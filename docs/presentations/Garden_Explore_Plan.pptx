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4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0" kern="0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i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Garden / Explore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i="1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restructure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phased plan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Heirlooms · groundwork before Milestone 7 (delivery)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are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two weeks of work since the project began at the end of April 2026.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377440"/>
            <a:ext cx="4023360" cy="0"/>
          </a:xfrm>
          <a:prstGeom prst="line">
            <a:avLst/>
          </a:prstGeom>
          <a:noFill/>
          <a:ln w="6350">
            <a:solidFill>
              <a:srgbClr val="6B7B6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68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212080" y="2377440"/>
            <a:ext cx="1371600" cy="0"/>
          </a:xfrm>
          <a:prstGeom prst="line">
            <a:avLst/>
          </a:prstGeom>
          <a:noFill/>
          <a:ln w="6350">
            <a:solidFill>
              <a:srgbClr val="2D4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2468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0" kern="0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0" y="2377440"/>
            <a:ext cx="2011680" cy="0"/>
          </a:xfrm>
          <a:prstGeom prst="line">
            <a:avLst/>
          </a:prstGeom>
          <a:noFill/>
          <a:ln w="12700">
            <a:solidFill>
              <a:srgbClr val="D4A5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2468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0" kern="0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0" y="2377440"/>
            <a:ext cx="2377440" cy="0"/>
          </a:xfrm>
          <a:prstGeom prst="line">
            <a:avLst/>
          </a:prstGeom>
          <a:noFill/>
          <a:ln w="6350">
            <a:solidFill>
              <a:srgbClr val="6B7B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3840480"/>
            <a:ext cx="10607040" cy="0"/>
          </a:xfrm>
          <a:prstGeom prst="line">
            <a:avLst/>
          </a:prstGeom>
          <a:noFill/>
          <a:ln w="12700">
            <a:solidFill>
              <a:srgbClr val="5A7A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3712464"/>
            <a:ext cx="256032" cy="256032"/>
          </a:xfrm>
          <a:prstGeom prst="ellipse">
            <a:avLst/>
          </a:prstGeom>
          <a:solidFill>
            <a:srgbClr val="2D4A2B"/>
          </a:solidFill>
          <a:ln w="12700">
            <a:solidFill>
              <a:srgbClr val="2D4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Apr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83664" y="3712464"/>
            <a:ext cx="256032" cy="256032"/>
          </a:xfrm>
          <a:prstGeom prst="ellipse">
            <a:avLst/>
          </a:prstGeom>
          <a:solidFill>
            <a:srgbClr val="2D4A2B"/>
          </a:solidFill>
          <a:ln w="12700">
            <a:solidFill>
              <a:srgbClr val="2D4A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6304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8872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May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980944" y="3712464"/>
            <a:ext cx="256032" cy="256032"/>
          </a:xfrm>
          <a:prstGeom prst="ellipse">
            <a:avLst/>
          </a:prstGeom>
          <a:solidFill>
            <a:srgbClr val="2D4A2B"/>
          </a:solidFill>
          <a:ln w="12700">
            <a:solidFill>
              <a:srgbClr val="2D4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28600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8600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May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86784" y="3712464"/>
            <a:ext cx="256032" cy="256032"/>
          </a:xfrm>
          <a:prstGeom prst="ellipse">
            <a:avLst/>
          </a:prstGeom>
          <a:solidFill>
            <a:srgbClr val="2D4A2B"/>
          </a:solidFill>
          <a:ln w="12700">
            <a:solidFill>
              <a:srgbClr val="2D4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6616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29184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9184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May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84064" y="3712464"/>
            <a:ext cx="256032" cy="256032"/>
          </a:xfrm>
          <a:prstGeom prst="ellipse">
            <a:avLst/>
          </a:prstGeom>
          <a:solidFill>
            <a:srgbClr val="2D4A2B"/>
          </a:solidFill>
          <a:ln w="12700">
            <a:solidFill>
              <a:srgbClr val="2D4A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1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38912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v0.16, mid May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44768" y="3675888"/>
            <a:ext cx="329184" cy="329184"/>
          </a:xfrm>
          <a:prstGeom prst="ellipse">
            <a:avLst/>
          </a:prstGeom>
          <a:solidFill>
            <a:srgbClr val="D4A5A5"/>
          </a:solidFill>
          <a:ln w="25400">
            <a:solidFill>
              <a:srgbClr val="2D4A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48640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863840" y="3657600"/>
            <a:ext cx="365760" cy="365760"/>
          </a:xfrm>
          <a:prstGeom prst="ellipse">
            <a:avLst/>
          </a:prstGeom>
          <a:solidFill>
            <a:srgbClr val="F5EFE0"/>
          </a:solidFill>
          <a:ln w="38100">
            <a:solidFill>
              <a:srgbClr val="D4A5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M6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22376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22376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82912" y="3730752"/>
            <a:ext cx="219456" cy="219456"/>
          </a:xfrm>
          <a:prstGeom prst="ellipse">
            <a:avLst/>
          </a:prstGeom>
          <a:solidFill>
            <a:srgbClr val="F5EFE0"/>
          </a:solidFill>
          <a:ln w="19050">
            <a:solidFill>
              <a:srgbClr val="5A7A4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B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M7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86968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86968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863072" y="3730752"/>
            <a:ext cx="219456" cy="219456"/>
          </a:xfrm>
          <a:prstGeom prst="ellipse">
            <a:avLst/>
          </a:prstGeom>
          <a:solidFill>
            <a:srgbClr val="F5EFE0"/>
          </a:solidFill>
          <a:ln w="19050">
            <a:solidFill>
              <a:srgbClr val="5A7A4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424160" y="29718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B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M8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14984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0149840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Garden tab today is one flat surface trying to do two jobs.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everything every time is slow. The mental model conflates </a:t>
            </a:r>
            <a:pPr indent="0" marL="0">
              <a:buNone/>
            </a:pPr>
            <a:r>
              <a:rPr lang="en-US" sz="15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work</a:t>
            </a:r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(tagging, processing, composting) with </a:t>
            </a:r>
            <a:pPr indent="0" marL="0">
              <a:buNone/>
            </a:pPr>
            <a:r>
              <a:rPr lang="en-US" sz="15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memories</a:t>
            </a:r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(browsing what you've kept). Different jobs, different emotional registers, different places.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7 (delivery) needs a settled Garden structure to land in. Multi-user (Milestone 8+) will compound the scaling problem if left. Doing this work </a:t>
            </a:r>
            <a:pPr indent="0" marL="0">
              <a:buNone/>
            </a:pPr>
            <a:r>
              <a:rPr lang="en-US" sz="1500" i="1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pPr indent="0" marL="0">
              <a:buNone/>
            </a:pPr>
            <a:r>
              <a:rPr lang="en-US" sz="15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nips several decisions in the bud — at lower cost than retrofitting later.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5394960" cy="155448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problem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440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Garden tab. Slow loads as the dataset grows. Workflow and leisure mixed. No clear answer to "what is this page for?"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92240" y="4937760"/>
            <a:ext cx="5394960" cy="155448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5440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= work surface (plots: "Just arrived" + user-defined). Explore = leisure surface (paginated, filterable). Two clear jobs, two clear places.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Milestone 6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being delivered before the originally-planned Milestone 6 (delivery).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77240" y="1993392"/>
            <a:ext cx="128016" cy="128016"/>
          </a:xfrm>
          <a:prstGeom prst="ellipse">
            <a:avLst/>
          </a:prstGeom>
          <a:solidFill>
            <a:srgbClr val="D4A5A5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needs a settled foundation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8288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6 (now Milestone 7) is the most emotionally resonant feature of the product. It deserves to land on a settled Garden / Explore structure rather than a flat surface that's about to change shape.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587752"/>
            <a:ext cx="128016" cy="128016"/>
          </a:xfrm>
          <a:prstGeom prst="ellipse">
            <a:avLst/>
          </a:prstGeom>
          <a:solidFill>
            <a:srgbClr val="D4A5A5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423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register problems compound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4231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increment delayed makes the flat-Garden problem worse. The dataset is growing; the brand-register conflation is being built into more features each cycle.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182112"/>
            <a:ext cx="128016" cy="128016"/>
          </a:xfrm>
          <a:prstGeom prst="ellipse">
            <a:avLst/>
          </a:prstGeom>
          <a:solidFill>
            <a:srgbClr val="D4A5A5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017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makes retrofit expensive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0175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decisions here (plot ownership, pagination, photo-detail variants) are easier to design correctly the first time than to retrofit after multi-user lands. Now is the cheap moment.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776472"/>
            <a:ext cx="128016" cy="128016"/>
          </a:xfrm>
          <a:prstGeom prst="ellipse">
            <a:avLst/>
          </a:prstGeom>
          <a:solidFill>
            <a:srgbClr val="D4A5A5"/>
          </a:solidFill>
          <a:ln w="12700">
            <a:solidFill>
              <a:srgbClr val="D4A5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6118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Nips decisions in the bud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36118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Brand-register, scaling, capsule-picker source, vocabulary — several open questions converge on this work. Better to settle them once, in one increment, than to keep deferring.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389120"/>
            <a:ext cx="10698480" cy="0"/>
          </a:xfrm>
          <a:prstGeom prst="line">
            <a:avLst/>
          </a:prstGeom>
          <a:noFill/>
          <a:ln w="6350">
            <a:solidFill>
              <a:srgbClr val="5A7A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remaining milestones have been renumbered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5029200"/>
            <a:ext cx="5394960" cy="146304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120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5440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 (in progress)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delivery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access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0" y="5029200"/>
            <a:ext cx="5394960" cy="1463040"/>
          </a:xfrm>
          <a:prstGeom prst="rect">
            <a:avLst/>
          </a:prstGeom>
          <a:solidFill>
            <a:srgbClr val="EBE3D0"/>
          </a:solidFill>
          <a:ln w="19050">
            <a:solidFill>
              <a:srgbClr val="2D4A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5120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5440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 (in progress)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</a:t>
            </a:r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/ Explore restructure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delivery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access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 at a glance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phases, three streams, twelve incremental briefs.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2743200" cy="402336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468880"/>
            <a:ext cx="640080" cy="640080"/>
          </a:xfrm>
          <a:prstGeom prst="ellipse">
            <a:avLst/>
          </a:prstGeom>
          <a:solidFill>
            <a:srgbClr val="2D4A2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9164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foundations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EXIF extraction (background job). Pagination on list endpoints. Plot schema and endpoints.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5577840"/>
            <a:ext cx="2286000" cy="45720"/>
          </a:xfrm>
          <a:prstGeom prst="rect">
            <a:avLst/>
          </a:prstGeom>
          <a:solidFill>
            <a:srgbClr val="5A7A4F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1A · 1B · 1C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11880" y="2194560"/>
            <a:ext cx="2743200" cy="402336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2468880"/>
            <a:ext cx="640080" cy="640080"/>
          </a:xfrm>
          <a:prstGeom prst="ellipse">
            <a:avLst/>
          </a:prstGeom>
          <a:solidFill>
            <a:srgbClr val="2D4A2B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Explore tab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/explore route. Tag/date/composted filters. Photo detail variant emphasising content.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40480" y="5577840"/>
            <a:ext cx="2286000" cy="45720"/>
          </a:xfrm>
          <a:prstGeom prst="rect">
            <a:avLst/>
          </a:prstGeom>
          <a:solidFill>
            <a:srgbClr val="5A7A4F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2A · 2B · 2C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194560"/>
            <a:ext cx="2743200" cy="402336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20840" y="2468880"/>
            <a:ext cx="640080" cy="640080"/>
          </a:xfrm>
          <a:prstGeom prst="ellipse">
            <a:avLst/>
          </a:prstGeom>
          <a:solidFill>
            <a:srgbClr val="2D4A2B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5236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5236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Garden plots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2084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arrived plot (mandatory). User plot management. Photo detail variant emphasising actions.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20840" y="5577840"/>
            <a:ext cx="2286000" cy="45720"/>
          </a:xfrm>
          <a:prstGeom prst="rect">
            <a:avLst/>
          </a:prstGeom>
          <a:solidFill>
            <a:srgbClr val="5A7A4F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3A · 3B · 3C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372600" y="2194560"/>
            <a:ext cx="2743200" cy="402336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01200" y="2468880"/>
            <a:ext cx="640080" cy="640080"/>
          </a:xfrm>
          <a:prstGeom prst="ellipse">
            <a:avLst/>
          </a:prstGeom>
          <a:solidFill>
            <a:srgbClr val="2D4A2B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1033272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33272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adoption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601200" y="347472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Explore tab. Android Garden plots. Bottom-nav restructure (burger menu).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601200" y="5577840"/>
            <a:ext cx="2286000" cy="45720"/>
          </a:xfrm>
          <a:prstGeom prst="rect">
            <a:avLst/>
          </a:prstGeom>
          <a:solidFill>
            <a:srgbClr val="5A7A4F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5715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4A · 4B · 4C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foundations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UI changes. Existing web continues to work; v0.21.0 Android ships unaffected.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EXIF extraction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job on upload. Adds taken-date and location lat/lng to uploads. Item appears in Garden immediately; metadata populates asynchronously.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Cursor-based pagination on list endpoints. Backwards-compatible — existing un-paginated callers receive first page; clients migrate gradually.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 days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41248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schema and endpoints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tables for plot definitions and per-user configuration. "Just arrived" is system-defined; user-defined plots layer on top. Sort/filter API additions.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410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 days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spc="2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Stream: Backend  ·  Cadence: 3 increments, each independently shippable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Explore tab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first because it's mostly additive. New tab, new page; Garden's existing behaviour unchanged during this phase.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page basic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/explore route. Paginated grid of all active items, newest-first by upload date. Tag filter chrome reused from existing Garden.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2-3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filters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range, capsule membership, composted toggle, location-boolean filter. Sort options (full set with EXIF indicator).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2-3 days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41248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photo detail variant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detail when entered from Explore emphasises content presentation over actions. Action affordances secondary.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410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1-2 days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spc="2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Stream: Web  ·  Cadence: 3 increments, each independently shippable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Garden plots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Riskier — transforms an existing surface. Done after Explore so users have a fallback while Garden is changing shape.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arrived plot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becomes a horizontal-scrolling row of "Just arrived" items at top, with the existing flat grid below as fallback during transition.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2-3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plot management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"Add a plot" affordance. User-created plots with tag-based criteria. Plots appear as additional rows. Fallback flat grid retires.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3-4 days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41248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photo detail variant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detail when entered from Garden emphasises action affordances (compost, tag, add to capsule). Compost heap link stays on Garden.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410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1-2 days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spc="2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Stream: Web  ·  Cadence: 3 increments, each independently shippable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Android adoption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catches up to the new web structure. Includes the bottom-nav restructure (burger menu replacing v0.21.0's three-tab Settings entry).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Explore tab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tab on Android matching web's Explore. Reuses photo detail components where possible. Pagination via Compose's LazyColumn primitives.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3-4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Garden plots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0060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tab restructured to match web's plot layout. Horizontal-scrolling plot rows; user plot management.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4-5 days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412480" y="246888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solidFill>
            <a:srgbClr val="5A7A4F"/>
          </a:solidFill>
          <a:ln/>
        </p:spPr>
      </p:sp>
      <p:sp>
        <p:nvSpPr>
          <p:cNvPr id="19" name="Text 17"/>
          <p:cNvSpPr/>
          <p:nvPr/>
        </p:nvSpPr>
        <p:spPr>
          <a:xfrm>
            <a:off x="8641080" y="2743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72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Bottom-nav restructure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41080" y="338328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moves out of bottom nav into a burger menu. Bottom nav becomes Garden / Explore / Capsules. Three tabs, cleaner.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410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1-2 days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spc="200" kern="0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Stream: Android  ·  Cadence: 3 increments, each independently shippable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Dependencies and parallel work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run in parallel; what must run in order.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9456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2524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5592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08660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1728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347960" y="1737360"/>
            <a:ext cx="163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9456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82524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5592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708660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71728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34796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1978640" y="2103120"/>
            <a:ext cx="0" cy="2606040"/>
          </a:xfrm>
          <a:prstGeom prst="line">
            <a:avLst/>
          </a:prstGeom>
          <a:noFill/>
          <a:ln w="6350">
            <a:solidFill>
              <a:srgbClr val="6B7B68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3152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194560" y="2103120"/>
            <a:ext cx="9784080" cy="731520"/>
          </a:xfrm>
          <a:prstGeom prst="rect">
            <a:avLst/>
          </a:prstGeom>
          <a:solidFill>
            <a:srgbClr val="EBE3D0"/>
          </a:solidFill>
          <a:ln w="12700">
            <a:solidFill>
              <a:srgbClr val="EBE3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94560"/>
            <a:ext cx="2354580" cy="548640"/>
          </a:xfrm>
          <a:prstGeom prst="rect">
            <a:avLst/>
          </a:prstGeom>
          <a:solidFill>
            <a:srgbClr val="2D4A2B"/>
          </a:solidFill>
          <a:ln w="6350">
            <a:solidFill>
              <a:srgbClr val="1A2B1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0" y="2194560"/>
            <a:ext cx="22631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108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194560" y="2971800"/>
            <a:ext cx="9784080" cy="731520"/>
          </a:xfrm>
          <a:prstGeom prst="rect">
            <a:avLst/>
          </a:prstGeom>
          <a:solidFill>
            <a:srgbClr val="EBE3D0"/>
          </a:solidFill>
          <a:ln w="12700">
            <a:solidFill>
              <a:srgbClr val="EBE3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70960" y="3063240"/>
            <a:ext cx="3169920" cy="548640"/>
          </a:xfrm>
          <a:prstGeom prst="rect">
            <a:avLst/>
          </a:prstGeom>
          <a:solidFill>
            <a:srgbClr val="2D4A2B"/>
          </a:solidFill>
          <a:ln w="6350">
            <a:solidFill>
              <a:srgbClr val="1A2B1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6680" y="3063240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(Explore)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16980" y="3063240"/>
            <a:ext cx="3985260" cy="548640"/>
          </a:xfrm>
          <a:prstGeom prst="rect">
            <a:avLst/>
          </a:prstGeom>
          <a:solidFill>
            <a:srgbClr val="2D4A2B"/>
          </a:solidFill>
          <a:ln w="6350">
            <a:solidFill>
              <a:srgbClr val="1A2B1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62700" y="3063240"/>
            <a:ext cx="38938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(Garden plots)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3977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194560" y="3840480"/>
            <a:ext cx="9784080" cy="731520"/>
          </a:xfrm>
          <a:prstGeom prst="rect">
            <a:avLst/>
          </a:prstGeom>
          <a:solidFill>
            <a:srgbClr val="EBE3D0"/>
          </a:solidFill>
          <a:ln w="12700">
            <a:solidFill>
              <a:srgbClr val="EBE3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63000" y="3931920"/>
            <a:ext cx="3169920" cy="548640"/>
          </a:xfrm>
          <a:prstGeom prst="rect">
            <a:avLst/>
          </a:prstGeom>
          <a:solidFill>
            <a:srgbClr val="2D4A2B"/>
          </a:solidFill>
          <a:ln w="6350">
            <a:solidFill>
              <a:srgbClr val="1A2B1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08720" y="3931920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5029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" y="53492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(backend) → Phase 2 (web Explore) → Phase 3 (web Garden) → Phase 4 (Android). Backend partially unblocks both Phases 2 and 3, but 1C (plot schema) must land before 3 starts.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Explore (Phase 2) should ship before Garden plots (Phase 3) starts in earnest — Explore acts as user fallback during the Garden transition. Some overlap acceptable late in Phase 2.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Rough timescales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estimates are unreliable; treat these as ranges, not commitments.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phase by phase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36576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– 7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5074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increments × ~2 days each, plus review, debugging, doc updates, deployment. The honest baseline.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2286000"/>
            <a:ext cx="3657600" cy="3200400"/>
          </a:xfrm>
          <a:prstGeom prst="rect">
            <a:avLst/>
          </a:prstGeom>
          <a:solidFill>
            <a:srgbClr val="2D4A2B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where dependencies allow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36576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– 5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4846320" y="4754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5074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stream and web stream can overlap. Engineer A on backend + Phase 4; Engineer B on web Phases 2 and 3.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412480" y="2286000"/>
            <a:ext cx="3657600" cy="3200400"/>
          </a:xfrm>
          <a:prstGeom prst="rect">
            <a:avLst/>
          </a:prstGeom>
          <a:solidFill>
            <a:srgbClr val="EBE3D0"/>
          </a:solidFill>
          <a:ln w="12700">
            <a:solidFill>
              <a:srgbClr val="5A7A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4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engineers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0" y="31546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useful parallelism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36576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2D4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– 4</a:t>
            </a:r>
            <a:endParaRPr lang="en-US" sz="6400" dirty="0"/>
          </a:p>
        </p:txBody>
      </p:sp>
      <p:sp>
        <p:nvSpPr>
          <p:cNvPr id="20" name="Text 18"/>
          <p:cNvSpPr/>
          <p:nvPr/>
        </p:nvSpPr>
        <p:spPr>
          <a:xfrm>
            <a:off x="8686800" y="4754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5074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2B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increments split across one engineer; web Phases 2 and 3 split across the other two. Diminishing returns past three.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for review, debugging, and post-deploy fixes is included. Real elapsed time will depend on how many context-switch costs land between increments.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4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i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four small questions, then draft Phase 1A.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2194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configuration scope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2560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Single-user only at v1, or schema set up for per-user plots from the start (foreshadowing multi-user)? Affects 1C's table design.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80160" y="2971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doc timing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3337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IDIOMS.md updates (plot, Just arrived, negative-action separation principle) land with Phase 1, Phase 2, or as their own doc-only patch.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84048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80160" y="3749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criteria language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41148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tag-matching only (simplest), or richer queries (date ranges, "in capsule X")? Affects Phase 3B.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4617720"/>
            <a:ext cx="457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4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80160" y="4526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E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v0.21.0 sequencing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4892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v0.21.0 Android ships first as currently scoped, then this milestone begins. v0.21.0 nav structure changes during Phase 4 — users see two nav structures in close succession (acceptable).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4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1A — EXIF extraction — drafted as the first concrete brief once these are settled.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Garden / Explore restructure</dc:title>
  <dc:subject>PptxGenJS Presentation</dc:subject>
  <dc:creator>Heirlooms PA</dc:creator>
  <cp:lastModifiedBy>Heirlooms PA</cp:lastModifiedBy>
  <cp:revision>1</cp:revision>
  <dcterms:created xsi:type="dcterms:W3CDTF">2026-05-08T05:04:50Z</dcterms:created>
  <dcterms:modified xsi:type="dcterms:W3CDTF">2026-05-08T05:04:50Z</dcterms:modified>
</cp:coreProperties>
</file>